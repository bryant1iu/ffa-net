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274320"/>
            <a:ext cx="2560320" cy="2560320"/>
          </a:xfrm>
          <a:prstGeom prst="ellipse">
            <a:avLst/>
          </a:prstGeom>
          <a:solidFill>
            <a:srgbClr val="281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2926080" cy="347472"/>
          </a:xfrm>
          <a:prstGeom prst="rect">
            <a:avLst/>
          </a:prstGeom>
          <a:solidFill>
            <a:srgbClr val="251A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AAAI 2020  ·  Official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FFA-Net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BBBCC"/>
                </a:solidFill>
              </a:rPr>
              <a:t>Feature Fusion Attention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BBBCC"/>
                </a:solidFill>
              </a:rPr>
              <a:t>for Single Image Dehazing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arXiv: 1911.07559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66160"/>
            <a:ext cx="11274552" cy="13716"/>
          </a:xfrm>
          <a:prstGeom prst="rect">
            <a:avLst/>
          </a:prstGeom>
          <a:solidFill>
            <a:srgbClr val="4433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Xu Qin, Zhilin Wang, Yuanchao Bai, Xiaodong Xie, Huizhu Jia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北京大学  ·  北京航空航天大学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1554480" cy="384048"/>
          </a:xfrm>
          <a:prstGeom prst="rect">
            <a:avLst/>
          </a:prstGeom>
          <a:solidFill>
            <a:srgbClr val="4035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6817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AAAI 2020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4663440"/>
            <a:ext cx="1554480" cy="384048"/>
          </a:xfrm>
          <a:prstGeom prst="rect">
            <a:avLst/>
          </a:prstGeom>
          <a:solidFill>
            <a:srgbClr val="0025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46817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6FF"/>
                </a:solidFill>
              </a:rPr>
              <a:t>图像复原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663440"/>
            <a:ext cx="1554480" cy="384048"/>
          </a:xfrm>
          <a:prstGeom prst="rect">
            <a:avLst/>
          </a:prstGeom>
          <a:solidFill>
            <a:srgbClr val="052A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46817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3E97B"/>
                </a:solidFill>
              </a:rPr>
              <a:t>注意力机制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6FF"/>
                </a:solidFill>
              </a:rPr>
              <a:t>◆ 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6FF"/>
                </a:solidFill>
              </a:rPr>
              <a:t>为什么研究图像去雾？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566160" cy="1645920"/>
          </a:xfrm>
          <a:prstGeom prst="rect">
            <a:avLst/>
          </a:prstGeom>
          <a:solidFill>
            <a:srgbClr val="181E3A"/>
          </a:solidFill>
          <a:ln w="12700">
            <a:solidFill>
              <a:srgbClr val="30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00"/>
                </a:solidFill>
              </a:rPr>
              <a:t>🌫️  问题来源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9280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雾霾导致光线散射，图像出现颜色失真、对比度降低、细节模糊等问题。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17320"/>
            <a:ext cx="3566160" cy="1645920"/>
          </a:xfrm>
          <a:prstGeom prst="rect">
            <a:avLst/>
          </a:prstGeom>
          <a:solidFill>
            <a:srgbClr val="181E3A"/>
          </a:solidFill>
          <a:ln w="12700">
            <a:solidFill>
              <a:srgbClr val="30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27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00"/>
                </a:solidFill>
              </a:rPr>
              <a:t>🚗  应用价值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9280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自动驾驶感知、城市监控、卫星遥感等下游任务均需清晰图像输入。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417320"/>
            <a:ext cx="3566160" cy="1645920"/>
          </a:xfrm>
          <a:prstGeom prst="rect">
            <a:avLst/>
          </a:prstGeom>
          <a:solidFill>
            <a:srgbClr val="181E3A"/>
          </a:solidFill>
          <a:ln w="12700">
            <a:solidFill>
              <a:srgbClr val="30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527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00"/>
                </a:solidFill>
              </a:rPr>
              <a:t>📐  物理模型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9280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大气散射模型：I(x) = J(x)·t(x) + A·(1-t(x))
其中 t 为透射率，A 为大气光。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27832"/>
            <a:ext cx="3566160" cy="1645920"/>
          </a:xfrm>
          <a:prstGeom prst="rect">
            <a:avLst/>
          </a:prstGeom>
          <a:solidFill>
            <a:srgbClr val="181E3A"/>
          </a:solidFill>
          <a:ln w="12700">
            <a:solidFill>
              <a:srgbClr val="30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37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00"/>
                </a:solidFill>
              </a:rPr>
              <a:t>⚡  核心挑战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t(x) 与 A 均为未知，问题高度不适定；不同浓度、场景差异极大。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227832"/>
            <a:ext cx="3566160" cy="1645920"/>
          </a:xfrm>
          <a:prstGeom prst="rect">
            <a:avLst/>
          </a:prstGeom>
          <a:solidFill>
            <a:srgbClr val="181E3A"/>
          </a:solidFill>
          <a:ln w="12700">
            <a:solidFill>
              <a:srgbClr val="30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3337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00"/>
                </a:solidFill>
              </a:rPr>
              <a:t>🧠  深度学习方案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70332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端到端学习直接预测清晰图像，避免手工估算透射率，性能大幅超越传统方法。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3227832"/>
            <a:ext cx="3566160" cy="1645920"/>
          </a:xfrm>
          <a:prstGeom prst="rect">
            <a:avLst/>
          </a:prstGeom>
          <a:solidFill>
            <a:srgbClr val="181E3A"/>
          </a:solidFill>
          <a:ln w="12700">
            <a:solidFill>
              <a:srgbClr val="30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3337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00"/>
                </a:solidFill>
              </a:rPr>
              <a:t>📊  评估基准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70332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RESIDE 数据集提供室内/室外场景，以 PSNR &amp; SSIM 为量化评估指标。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</a:rPr>
              <a:t>◆  问题分析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6B"/>
                </a:solidFill>
              </a:rPr>
              <a:t>现有方法的不足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1115568"/>
          </a:xfrm>
          <a:prstGeom prst="rect">
            <a:avLst/>
          </a:prstGeom>
          <a:solidFill>
            <a:srgbClr val="250A0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" cy="1115568"/>
          </a:xfrm>
          <a:prstGeom prst="rect">
            <a:avLst/>
          </a:prstGeom>
          <a:solidFill>
            <a:srgbClr val="FF6B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270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❌  问题一：特征一视同仁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928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现有方法对所有通道和空间位置施以相同权重，忽略了不同特征对去雾贡献的差异性。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11247120" cy="1115568"/>
          </a:xfrm>
          <a:prstGeom prst="rect">
            <a:avLst/>
          </a:prstGeom>
          <a:solidFill>
            <a:srgbClr val="250A0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64008" cy="1115568"/>
          </a:xfrm>
          <a:prstGeom prst="rect">
            <a:avLst/>
          </a:prstGeom>
          <a:solidFill>
            <a:srgbClr val="FF6B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8072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❌  问题二：单一尺度特征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7296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大多数网络仅使用单一分支提取特征，无法同时捕获不同层次的去雾信息（全局/局部）。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40"/>
            <a:ext cx="11247120" cy="1115568"/>
          </a:xfrm>
          <a:prstGeom prst="rect">
            <a:avLst/>
          </a:prstGeom>
          <a:solidFill>
            <a:srgbClr val="250A0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77640"/>
            <a:ext cx="64008" cy="1115568"/>
          </a:xfrm>
          <a:prstGeom prst="rect">
            <a:avLst/>
          </a:prstGeom>
          <a:solidFill>
            <a:srgbClr val="FF6B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087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❌  问题三：融合策略简单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531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多分支结果通常直接拼接或平均融合，未能自适应地学习各分支的重要性权重。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57800"/>
            <a:ext cx="11247120" cy="960120"/>
          </a:xfrm>
          <a:prstGeom prst="rect">
            <a:avLst/>
          </a:prstGeom>
          <a:solidFill>
            <a:srgbClr val="05182A"/>
          </a:solidFill>
          <a:ln w="127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3218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 核心洞察：设计双重注意力机制（通道 + 空间）并配合多分支特征融合注意力，让网络精准聚焦有效信息，大幅提升复原质量。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6FF"/>
                </a:solidFill>
              </a:rPr>
              <a:t>◆  网络架构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6FF"/>
                </a:solidFill>
              </a:rPr>
              <a:t>FFA-Net 整体架构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389888"/>
            <a:ext cx="4114800" cy="2011680"/>
          </a:xfrm>
          <a:prstGeom prst="rect">
            <a:avLst/>
          </a:prstGeom>
          <a:solidFill>
            <a:srgbClr val="182218"/>
          </a:solidFill>
          <a:ln w="12700">
            <a:solidFill>
              <a:srgbClr val="406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1338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200"/>
                </a:solidFill>
              </a:rPr>
              <a:t>并行 3 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2194560"/>
            <a:ext cx="1280160" cy="960120"/>
          </a:xfrm>
          <a:prstGeom prst="rect">
            <a:avLst/>
          </a:prstGeom>
          <a:solidFill>
            <a:srgbClr val="102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22311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输入
有雾图像
3×H×W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489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194560"/>
            <a:ext cx="1280160" cy="960120"/>
          </a:xfrm>
          <a:prstGeom prst="rect">
            <a:avLst/>
          </a:prstGeom>
          <a:solidFill>
            <a:srgbClr val="102030"/>
          </a:solidFill>
          <a:ln w="127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2311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6FF"/>
                </a:solidFill>
              </a:rPr>
              <a:t>预处理层
Conv 3→64
3×3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828800"/>
            <a:ext cx="1280160" cy="530352"/>
          </a:xfrm>
          <a:prstGeom prst="rect">
            <a:avLst/>
          </a:prstGeom>
          <a:solidFill>
            <a:srgbClr val="102030"/>
          </a:solidFill>
          <a:ln w="1270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86537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200"/>
                </a:solidFill>
              </a:rPr>
              <a:t>Group 1
N×残差块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9842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2423160"/>
            <a:ext cx="1280160" cy="530352"/>
          </a:xfrm>
          <a:prstGeom prst="rect">
            <a:avLst/>
          </a:prstGeom>
          <a:solidFill>
            <a:srgbClr val="102030"/>
          </a:solidFill>
          <a:ln w="1270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245973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200"/>
                </a:solidFill>
              </a:rPr>
              <a:t>Group 2
N×残差块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7860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0528" y="3017520"/>
            <a:ext cx="1280160" cy="530352"/>
          </a:xfrm>
          <a:prstGeom prst="rect">
            <a:avLst/>
          </a:prstGeom>
          <a:solidFill>
            <a:srgbClr val="102030"/>
          </a:solidFill>
          <a:ln w="1270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05409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200"/>
                </a:solidFill>
              </a:rPr>
              <a:t>Group 3
N×残差块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2194560"/>
            <a:ext cx="1280160" cy="960120"/>
          </a:xfrm>
          <a:prstGeom prst="rect">
            <a:avLst/>
          </a:prstGeom>
          <a:solidFill>
            <a:srgbClr val="102030"/>
          </a:solidFill>
          <a:ln w="12700">
            <a:solidFill>
              <a:srgbClr val="F79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22311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7971E"/>
                </a:solidFill>
              </a:rPr>
              <a:t>特征融合
注意力加权
Concat+CA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56489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2194560"/>
            <a:ext cx="1280160" cy="960120"/>
          </a:xfrm>
          <a:prstGeom prst="rect">
            <a:avLst/>
          </a:prstGeom>
          <a:solidFill>
            <a:srgbClr val="102030"/>
          </a:solidFill>
          <a:ln w="127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2311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6FF"/>
                </a:solidFill>
              </a:rPr>
              <a:t>后处理层
Conv×2
+残差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62488" y="256489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98480" y="2194560"/>
            <a:ext cx="1280160" cy="960120"/>
          </a:xfrm>
          <a:prstGeom prst="rect">
            <a:avLst/>
          </a:prstGeom>
          <a:solidFill>
            <a:srgbClr val="102030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44200" y="22311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3E97B"/>
                </a:solidFill>
              </a:rPr>
              <a:t>输出
清晰图像
3×H×W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101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</a:rPr>
              <a:t>全局跳跃连接：输出 = 网络预测 + 输入有雾图像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49039"/>
            <a:ext cx="3657600" cy="1078992"/>
          </a:xfrm>
          <a:prstGeom prst="rect">
            <a:avLst/>
          </a:prstGeom>
          <a:solidFill>
            <a:srgbClr val="101828"/>
          </a:solidFill>
          <a:ln w="127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749039"/>
            <a:ext cx="3657600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858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残差块设计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2245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每个残差块含 2 个 3×3 卷积 + CA + PA 双重注意力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0832" y="3749039"/>
            <a:ext cx="3657600" cy="1078992"/>
          </a:xfrm>
          <a:prstGeom prst="rect">
            <a:avLst/>
          </a:prstGeom>
          <a:solidFill>
            <a:srgbClr val="101828"/>
          </a:solidFill>
          <a:ln w="1270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0832" y="3749039"/>
            <a:ext cx="3657600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3858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00"/>
                </a:solidFill>
              </a:rPr>
              <a:t>并行多分支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2245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3 组独立残差组并行，各含 19 个残差块，捕获互补信息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84464" y="3749039"/>
            <a:ext cx="3657600" cy="1078992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84464" y="3749039"/>
            <a:ext cx="3657600" cy="64008"/>
          </a:xfrm>
          <a:prstGeom prst="rect">
            <a:avLst/>
          </a:prstGeom>
          <a:solidFill>
            <a:srgbClr val="FF6B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3858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自适应融合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42245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三组特征通过注意力学习权重 w₁、w₂、w₃，加权求和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E97B"/>
                </a:solidFill>
              </a:rPr>
              <a:t>◆  关键模块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3E97B"/>
                </a:solidFill>
              </a:rPr>
              <a:t>双重注意力机制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5669280" cy="3931920"/>
          </a:xfrm>
          <a:prstGeom prst="rect">
            <a:avLst/>
          </a:prstGeom>
          <a:solidFill>
            <a:srgbClr val="101822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669280" cy="54864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🟢  通道注意力 (Channel Attention, CA)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93392"/>
            <a:ext cx="5303520" cy="402336"/>
          </a:xfrm>
          <a:prstGeom prst="rect">
            <a:avLst/>
          </a:prstGeom>
          <a:solidFill>
            <a:srgbClr val="2035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482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① 输入特征图 F（C × H × W）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96312"/>
            <a:ext cx="5303520" cy="402336"/>
          </a:xfrm>
          <a:prstGeom prst="rect">
            <a:avLst/>
          </a:prstGeom>
          <a:solidFill>
            <a:srgbClr val="2035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51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② 全局平均池化 → (C × 1 × 1)  压缩空间信息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5303520" cy="402336"/>
          </a:xfrm>
          <a:prstGeom prst="rect">
            <a:avLst/>
          </a:prstGeom>
          <a:solidFill>
            <a:srgbClr val="2035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540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③ 两层 1×1 卷积 + ReLU / Sigmoid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02152"/>
            <a:ext cx="5303520" cy="402336"/>
          </a:xfrm>
          <a:prstGeom prst="rect">
            <a:avLst/>
          </a:prstGeom>
          <a:solidFill>
            <a:srgbClr val="2035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570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④ 通道权重向量与 F 逐通道相乘（重新校准）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05072"/>
            <a:ext cx="5303520" cy="402336"/>
          </a:xfrm>
          <a:prstGeom prst="rect">
            <a:avLst/>
          </a:prstGeom>
          <a:solidFill>
            <a:srgbClr val="2035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599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⑤ 输出：增强了重要通道的特征图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507992"/>
            <a:ext cx="5303520" cy="402336"/>
          </a:xfrm>
          <a:prstGeom prst="rect">
            <a:avLst/>
          </a:prstGeom>
          <a:solidFill>
            <a:srgbClr val="2035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628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E97B"/>
                </a:solidFill>
              </a:rPr>
              <a:t>→ 让网络关注哪些通道对去雾最有效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389888"/>
            <a:ext cx="5669280" cy="3931920"/>
          </a:xfrm>
          <a:prstGeom prst="rect">
            <a:avLst/>
          </a:prstGeom>
          <a:solidFill>
            <a:srgbClr val="101822"/>
          </a:solidFill>
          <a:ln w="12700">
            <a:solidFill>
              <a:srgbClr val="F79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389888"/>
            <a:ext cx="5669280" cy="54864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4813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71E"/>
                </a:solidFill>
              </a:rPr>
              <a:t>🟠  空间注意力 (Pixel Attention, PA)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993392"/>
            <a:ext cx="5303520" cy="402336"/>
          </a:xfrm>
          <a:prstGeom prst="rect">
            <a:avLst/>
          </a:prstGeom>
          <a:solidFill>
            <a:srgbClr val="3020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0482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① 输入特征图 F（C × H × W）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496312"/>
            <a:ext cx="5303520" cy="402336"/>
          </a:xfrm>
          <a:prstGeom prst="rect">
            <a:avLst/>
          </a:prstGeom>
          <a:solidFill>
            <a:srgbClr val="3020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51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② 两层 1×1 卷积将通道数压缩至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999232"/>
            <a:ext cx="5303520" cy="402336"/>
          </a:xfrm>
          <a:prstGeom prst="rect">
            <a:avLst/>
          </a:prstGeom>
          <a:solidFill>
            <a:srgbClr val="3020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0540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③ Sigmoid 激活 → 空间掩码 M（1 × H × W）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502152"/>
            <a:ext cx="5303520" cy="402336"/>
          </a:xfrm>
          <a:prstGeom prst="rect">
            <a:avLst/>
          </a:prstGeom>
          <a:solidFill>
            <a:srgbClr val="3020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570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④ 掩码 M 与 F 逐像素相乘（空间重加权）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005072"/>
            <a:ext cx="5303520" cy="402336"/>
          </a:xfrm>
          <a:prstGeom prst="rect">
            <a:avLst/>
          </a:prstGeom>
          <a:solidFill>
            <a:srgbClr val="3020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0599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⑤ 输出：突出雾浓区域的特征图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507992"/>
            <a:ext cx="5303520" cy="402336"/>
          </a:xfrm>
          <a:prstGeom prst="rect">
            <a:avLst/>
          </a:prstGeom>
          <a:solidFill>
            <a:srgbClr val="3020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628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1E"/>
                </a:solidFill>
              </a:rPr>
              <a:t>→ 让网络关注哪些空间位置的雾更浓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04688"/>
            <a:ext cx="11247120" cy="749808"/>
          </a:xfrm>
          <a:prstGeom prst="rect">
            <a:avLst/>
          </a:prstGeom>
          <a:solidFill>
            <a:srgbClr val="102018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59612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200"/>
                </a:solidFill>
              </a:rPr>
              <a:t>残差块输出公式：  F_out  =  PA( CA( Conv₂( Conv₁(F) ) ) )  +  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5AF2"/>
                </a:solidFill>
              </a:rPr>
              <a:t>◆  关键模块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F5AF2"/>
                </a:solidFill>
              </a:rPr>
              <a:t>特征融合注意力（FFA 模块）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194560" cy="749808"/>
          </a:xfrm>
          <a:prstGeom prst="rect">
            <a:avLst/>
          </a:prstGeom>
          <a:solidFill>
            <a:srgbClr val="101828"/>
          </a:solidFill>
          <a:ln w="127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6FF"/>
                </a:solidFill>
              </a:rPr>
              <a:t>Group 1 输出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2194560" cy="749808"/>
          </a:xfrm>
          <a:prstGeom prst="rect">
            <a:avLst/>
          </a:prstGeom>
          <a:solidFill>
            <a:srgbClr val="101828"/>
          </a:solidFill>
          <a:ln w="1270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243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00"/>
                </a:solidFill>
              </a:rPr>
              <a:t>Group 2 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2194560" cy="749808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844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Group 3 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7282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6883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6484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417320"/>
            <a:ext cx="1737360" cy="2834640"/>
          </a:xfrm>
          <a:prstGeom prst="rect">
            <a:avLst/>
          </a:prstGeom>
          <a:solidFill>
            <a:srgbClr val="201035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194560"/>
            <a:ext cx="1700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F5AF2"/>
                </a:solidFill>
              </a:rPr>
              <a:t>Concat
拼接
(3C×H×W)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1783080"/>
            <a:ext cx="2011680" cy="2103120"/>
          </a:xfrm>
          <a:prstGeom prst="rect">
            <a:avLst/>
          </a:prstGeom>
          <a:solidFill>
            <a:srgbClr val="281808"/>
          </a:solidFill>
          <a:ln w="12700">
            <a:solidFill>
              <a:srgbClr val="F79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2286000"/>
            <a:ext cx="19751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971E"/>
                </a:solidFill>
              </a:rPr>
              <a:t>通道注意力
学习权重
w₁, w₂, w₃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011680"/>
            <a:ext cx="2103120" cy="1664208"/>
          </a:xfrm>
          <a:prstGeom prst="rect">
            <a:avLst/>
          </a:prstGeom>
          <a:solidFill>
            <a:srgbClr val="082515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2468880"/>
            <a:ext cx="20665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3E97B"/>
                </a:solidFill>
              </a:rPr>
              <a:t>融合输出
加权求和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11247120" cy="566928"/>
          </a:xfrm>
          <a:prstGeom prst="rect">
            <a:avLst/>
          </a:prstGeom>
          <a:solidFill>
            <a:srgbClr val="201038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572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200"/>
                </a:solidFill>
              </a:rPr>
              <a:t>Out = w₁·F₁  +  w₂·F₂  +  w₃·F₃     （权重由网络自动学习，w₁+w₂+w₃=1）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93792"/>
            <a:ext cx="2788920" cy="1024128"/>
          </a:xfrm>
          <a:prstGeom prst="rect">
            <a:avLst/>
          </a:prstGeom>
          <a:solidFill>
            <a:srgbClr val="150825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2395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5AF2"/>
                </a:solidFill>
              </a:rPr>
              <a:t>自适应权重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577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权重由网络自动学习，而非人工固定，可根据输入内容动态调整各分支贡献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1568" y="5193792"/>
            <a:ext cx="2788920" cy="1024128"/>
          </a:xfrm>
          <a:prstGeom prst="rect">
            <a:avLst/>
          </a:prstGeom>
          <a:solidFill>
            <a:srgbClr val="150825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52395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5AF2"/>
                </a:solidFill>
              </a:rPr>
              <a:t>互补信息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1296" y="5577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三个并行分支各自独立，产生互补去雾特征，融合后信息更完整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45936" y="5193792"/>
            <a:ext cx="2788920" cy="1024128"/>
          </a:xfrm>
          <a:prstGeom prst="rect">
            <a:avLst/>
          </a:prstGeom>
          <a:solidFill>
            <a:srgbClr val="150825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52395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5AF2"/>
                </a:solidFill>
              </a:rPr>
              <a:t>端到端优化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577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融合权重与网络参数联合训练，L1 损失 + 可选 VGG16 感知损失统一优化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90304" y="5193792"/>
            <a:ext cx="2788920" cy="1024128"/>
          </a:xfrm>
          <a:prstGeom prst="rect">
            <a:avLst/>
          </a:prstGeom>
          <a:solidFill>
            <a:srgbClr val="150825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0032" y="52395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5AF2"/>
                </a:solidFill>
              </a:rPr>
              <a:t>命名由来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5577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FFA = Feature Fusion Attention，此模块正是论文核心贡献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E97B"/>
                </a:solidFill>
              </a:rPr>
              <a:t>◆  实验设置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3E97B"/>
                </a:solidFill>
              </a:rPr>
              <a:t>数据集：RESIDE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669280" cy="2011680"/>
          </a:xfrm>
          <a:prstGeom prst="rect">
            <a:avLst/>
          </a:prstGeom>
          <a:solidFill>
            <a:srgbClr val="102218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室内场景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训练集 (ITS)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20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13,990 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测试集 (SOTS)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94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500 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图像格式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68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雾浓度 (β)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43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0.6 – 1.8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合成方式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17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深度图 + 散射模型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417320"/>
            <a:ext cx="5669280" cy="2011680"/>
          </a:xfrm>
          <a:prstGeom prst="rect">
            <a:avLst/>
          </a:prstGeom>
          <a:solidFill>
            <a:srgbClr val="102218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08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室外场景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训练集 (OTS)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920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313,950 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测试集 (SOTS)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194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500 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图像格式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468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JPEG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743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雾浓度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743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多种浓度混合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017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合成方式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017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真实场景 + 大气散射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11880"/>
            <a:ext cx="5669280" cy="2011680"/>
          </a:xfrm>
          <a:prstGeom prst="rect">
            <a:avLst/>
          </a:prstGeom>
          <a:solidFill>
            <a:srgbClr val="102218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703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训练超参数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114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残差块数 (blocks)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1148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389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分支数 (gps)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389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663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批大小 (bs)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663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937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学习率 (lr)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9377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1e-4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212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裁剪尺寸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212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240 × 240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611880"/>
            <a:ext cx="5669280" cy="2011680"/>
          </a:xfrm>
          <a:prstGeom prst="rect">
            <a:avLst/>
          </a:prstGeom>
          <a:solidFill>
            <a:srgbClr val="102218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703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训练策略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114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室内训练步数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1148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500,000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389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室外训练步数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389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1,000,000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663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学习率调度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663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余弦退火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937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数据增强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9377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随机翻转 + 旋转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212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评估指标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5212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</a:rPr>
              <a:t>PSNR / SSIM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943600"/>
            <a:ext cx="11247120" cy="530352"/>
          </a:xfrm>
          <a:prstGeom prst="rect">
            <a:avLst/>
          </a:prstGeom>
          <a:solidFill>
            <a:srgbClr val="082818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60076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📌  损失函数：L₁ 重建损失（必选）+ VGG16 感知损失（可选），两者均支持余弦退火学习率调度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200"/>
                </a:solidFill>
              </a:rPr>
              <a:t>◆  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200"/>
                </a:solidFill>
              </a:rPr>
              <a:t>定量对比（SOTS 数据集，PSNR / SSIM）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9601200" cy="438912"/>
          </a:xfrm>
          <a:prstGeom prst="rect">
            <a:avLst/>
          </a:prstGeom>
          <a:solidFill>
            <a:srgbClr val="282205"/>
          </a:solidFill>
          <a:ln w="1270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6304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年份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46304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室内 PSNR↑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46304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室内 SSIM↑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室外 PSNR↑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46304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室外 SSIM↑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9601200" cy="548640"/>
          </a:xfrm>
          <a:prstGeom prst="rect">
            <a:avLst/>
          </a:prstGeom>
          <a:solidFill>
            <a:srgbClr val="121422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2996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DCP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02996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2009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2996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传统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2996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16.62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02996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0.8179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02996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19.13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02996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0.8148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42032"/>
            <a:ext cx="9601200" cy="548640"/>
          </a:xfrm>
          <a:prstGeom prst="rect">
            <a:avLst/>
          </a:prstGeom>
          <a:solidFill>
            <a:srgbClr val="121422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51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AOD-Net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65176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265176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CNN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65176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19.06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65176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0.8504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65176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20.29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65176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0.8765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163824"/>
            <a:ext cx="9601200" cy="548640"/>
          </a:xfrm>
          <a:prstGeom prst="rect">
            <a:avLst/>
          </a:prstGeom>
          <a:solidFill>
            <a:srgbClr val="121422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2735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DehazeNet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27355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2016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327355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CNN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2735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21.14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2735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0.8472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2735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22.46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2735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0.8514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85616"/>
            <a:ext cx="9601200" cy="548640"/>
          </a:xfrm>
          <a:prstGeom prst="rect">
            <a:avLst/>
          </a:prstGeom>
          <a:solidFill>
            <a:srgbClr val="121422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89534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GFN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389534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2018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389534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CNN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38953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22.30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38953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0.8800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8953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21.55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8953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0.8444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407408"/>
            <a:ext cx="9601200" cy="548640"/>
          </a:xfrm>
          <a:prstGeom prst="rect">
            <a:avLst/>
          </a:prstGeom>
          <a:solidFill>
            <a:srgbClr val="121422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51713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GCANet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451713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2019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4680" y="451713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CNN+Attn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451713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30.23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451713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0.9800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451713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1713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029200"/>
            <a:ext cx="9601200" cy="548640"/>
          </a:xfrm>
          <a:prstGeom prst="rect">
            <a:avLst/>
          </a:prstGeom>
          <a:solidFill>
            <a:srgbClr val="221A04"/>
          </a:solidFill>
          <a:ln w="1270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13892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FFA-Net (Ours)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513892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4680" y="513892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双重注意力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513892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36.39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80" y="513892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0.9886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513892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33.57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20" y="513892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0.9840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126480"/>
            <a:ext cx="3657600" cy="868680"/>
          </a:xfrm>
          <a:prstGeom prst="rect">
            <a:avLst/>
          </a:prstGeom>
          <a:solidFill>
            <a:srgbClr val="201805"/>
          </a:solidFill>
          <a:ln w="1270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6172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200"/>
                </a:solidFill>
              </a:rPr>
              <a:t>室内提升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492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vs GCANet：PSNR +6.16 dB
vs DehazeNet：+15.25 dB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70832" y="6126480"/>
            <a:ext cx="3657600" cy="868680"/>
          </a:xfrm>
          <a:prstGeom prst="rect">
            <a:avLst/>
          </a:prstGeom>
          <a:solidFill>
            <a:srgbClr val="201805"/>
          </a:solidFill>
          <a:ln w="1270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60" y="6172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200"/>
                </a:solidFill>
              </a:rPr>
              <a:t>室外提升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80560" y="6492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vs GFN：PSNR +12.02 dB
vs DehazeNet：+11.11 dB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84464" y="6126480"/>
            <a:ext cx="3657600" cy="868680"/>
          </a:xfrm>
          <a:prstGeom prst="rect">
            <a:avLst/>
          </a:prstGeom>
          <a:solidFill>
            <a:srgbClr val="201805"/>
          </a:solidFill>
          <a:ln w="1270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94192" y="6172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200"/>
                </a:solidFill>
              </a:rPr>
              <a:t>SSIM 指标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94192" y="6492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室内 0.9886 / 室外 0.9840
接近满分（1.0）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6FF"/>
                </a:solidFill>
              </a:rPr>
              <a:t>◆  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6FF"/>
                </a:solidFill>
              </a:rPr>
              <a:t>定性对比（视觉效果展示）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室外场景 — 建筑物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2606040" cy="329184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0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25146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6177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</a:rPr>
              <a:t>输入（有雾）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810512"/>
            <a:ext cx="2606040" cy="329184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400_2_F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828800"/>
            <a:ext cx="25146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46120" y="46177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</a:rPr>
              <a:t>FFA-Net 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8988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室内场景 — 居室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10512"/>
            <a:ext cx="2606040" cy="329184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99_0.9_0.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828800"/>
            <a:ext cx="2514600" cy="274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46177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</a:rPr>
              <a:t>输入（有雾）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810512"/>
            <a:ext cx="2606040" cy="329184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099_0_F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828800"/>
            <a:ext cx="2514600" cy="274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89720" y="46177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</a:rPr>
              <a:t>FFA-Net 输出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3657600" cy="868680"/>
          </a:xfrm>
          <a:prstGeom prst="rect">
            <a:avLst/>
          </a:prstGeom>
          <a:solidFill>
            <a:srgbClr val="051828"/>
          </a:solidFill>
          <a:ln w="127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212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6FF"/>
                </a:solidFill>
              </a:rPr>
              <a:t>颜色保真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5321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去雾后色彩自然，无过饱和或色偏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5166360"/>
            <a:ext cx="3657600" cy="868680"/>
          </a:xfrm>
          <a:prstGeom prst="rect">
            <a:avLst/>
          </a:prstGeom>
          <a:solidFill>
            <a:srgbClr val="051828"/>
          </a:solidFill>
          <a:ln w="127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5212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6FF"/>
                </a:solidFill>
              </a:rPr>
              <a:t>细节恢复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5321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远景轮廓清晰，纹理细节完整保留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5166360"/>
            <a:ext cx="3657600" cy="868680"/>
          </a:xfrm>
          <a:prstGeom prst="rect">
            <a:avLst/>
          </a:prstGeom>
          <a:solidFill>
            <a:srgbClr val="051828"/>
          </a:solidFill>
          <a:ln w="127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5212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6FF"/>
                </a:solidFill>
              </a:rPr>
              <a:t>对比度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55321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整体对比度提升，层次感显著增强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5AF2"/>
                </a:solidFill>
              </a:rPr>
              <a:t>◆  消融实验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F5AF2"/>
                </a:solidFill>
              </a:rPr>
              <a:t>消融实验分析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9052560" cy="411480"/>
          </a:xfrm>
          <a:prstGeom prst="rect">
            <a:avLst/>
          </a:prstGeom>
          <a:solidFill>
            <a:srgbClr val="251042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5AF2"/>
                </a:solidFill>
              </a:rPr>
              <a:t>变体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42646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5AF2"/>
                </a:solidFill>
              </a:rPr>
              <a:t>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42646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5AF2"/>
                </a:solidFill>
              </a:rPr>
              <a:t>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2646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5AF2"/>
                </a:solidFill>
              </a:rPr>
              <a:t>FFA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42646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5AF2"/>
                </a:solidFill>
              </a:rPr>
              <a:t>多分支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2646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5AF2"/>
                </a:solidFill>
              </a:rPr>
              <a:t>室内 PSNR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42646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5AF2"/>
                </a:solidFill>
              </a:rPr>
              <a:t>室外 PSNR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9052560" cy="530352"/>
          </a:xfrm>
          <a:prstGeom prst="rect">
            <a:avLst/>
          </a:prstGeom>
          <a:solidFill>
            <a:srgbClr val="141024"/>
          </a:solidFill>
          <a:ln w="12700">
            <a:solidFill>
              <a:srgbClr val="28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59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基础 CNN（无注意力）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6595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96595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96595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96595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96595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80"/>
                </a:solidFill>
              </a:rPr>
              <a:t>30.41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96595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80"/>
                </a:solidFill>
              </a:rPr>
              <a:t>26.87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68879"/>
            <a:ext cx="9052560" cy="530352"/>
          </a:xfrm>
          <a:prstGeom prst="rect">
            <a:avLst/>
          </a:prstGeom>
          <a:solidFill>
            <a:srgbClr val="141024"/>
          </a:solidFill>
          <a:ln w="12700">
            <a:solidFill>
              <a:srgbClr val="28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60319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+ 通道注意力 (CA)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56031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56031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56031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56031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56031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80"/>
                </a:solidFill>
              </a:rPr>
              <a:t>32.15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56031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80"/>
                </a:solidFill>
              </a:rPr>
              <a:t>28.36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063239"/>
            <a:ext cx="9052560" cy="530352"/>
          </a:xfrm>
          <a:prstGeom prst="rect">
            <a:avLst/>
          </a:prstGeom>
          <a:solidFill>
            <a:srgbClr val="141024"/>
          </a:solidFill>
          <a:ln w="12700">
            <a:solidFill>
              <a:srgbClr val="28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154679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+ 空间注意力 (PA)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15467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315467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15467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15467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15467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80"/>
                </a:solidFill>
              </a:rPr>
              <a:t>31.78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315467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80"/>
                </a:solidFill>
              </a:rPr>
              <a:t>27.94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57599"/>
            <a:ext cx="9052560" cy="530352"/>
          </a:xfrm>
          <a:prstGeom prst="rect">
            <a:avLst/>
          </a:prstGeom>
          <a:solidFill>
            <a:srgbClr val="141024"/>
          </a:solidFill>
          <a:ln w="12700">
            <a:solidFill>
              <a:srgbClr val="28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749039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CA + PA（双重）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74903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374903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374903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374903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74903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80"/>
                </a:solidFill>
              </a:rPr>
              <a:t>33.82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374903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80"/>
                </a:solidFill>
              </a:rPr>
              <a:t>30.11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51959"/>
            <a:ext cx="9052560" cy="530352"/>
          </a:xfrm>
          <a:prstGeom prst="rect">
            <a:avLst/>
          </a:prstGeom>
          <a:solidFill>
            <a:srgbClr val="141024"/>
          </a:solidFill>
          <a:ln w="12700">
            <a:solidFill>
              <a:srgbClr val="28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343399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CA + PA + 多分支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34339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434339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434339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434339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34339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80"/>
                </a:solidFill>
              </a:rPr>
              <a:t>35.21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80" y="434339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280"/>
                </a:solidFill>
              </a:rPr>
              <a:t>32.08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846319"/>
            <a:ext cx="9052560" cy="530352"/>
          </a:xfrm>
          <a:prstGeom prst="rect">
            <a:avLst/>
          </a:prstGeom>
          <a:solidFill>
            <a:srgbClr val="221038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937759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完整 FFA-Net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493775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0520" y="493775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493775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80" y="493775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3E97B"/>
                </a:solidFill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6560" y="493775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36.39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3880" y="493775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00"/>
                </a:solidFill>
              </a:rPr>
              <a:t>33.57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806440"/>
            <a:ext cx="11247120" cy="868680"/>
          </a:xfrm>
          <a:prstGeom prst="rect">
            <a:avLst/>
          </a:prstGeom>
          <a:solidFill>
            <a:srgbClr val="150828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5870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结论：CA 和 PA 各自有效，合并更好；多分支带来约 +1.4 dB；FFA 融合注意力再带来约 +1.2 dB；三者协同达到最佳性能 36.39 dB。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6FF"/>
                </a:solidFill>
              </a:rPr>
              <a:t>◆  模型分析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6FF"/>
                </a:solidFill>
              </a:rPr>
              <a:t>模型复杂度与性能权衡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5669280" cy="3840480"/>
          </a:xfrm>
          <a:prstGeom prst="rect">
            <a:avLst/>
          </a:prstGeom>
          <a:solidFill>
            <a:srgbClr val="101828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各方法参数量对比（M）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FFA-Net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956816"/>
            <a:ext cx="3851452" cy="228600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8852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200"/>
                </a:solidFill>
              </a:rPr>
              <a:t>4.68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87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GCANet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523744"/>
            <a:ext cx="576071" cy="228600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24871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6FF"/>
                </a:solidFill>
              </a:rPr>
              <a:t>0.7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54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GFN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090672"/>
            <a:ext cx="477316" cy="228600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4716" y="30540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E97B"/>
                </a:solidFill>
              </a:rPr>
              <a:t>0.58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DehazeNet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3657600"/>
            <a:ext cx="91440" cy="228600"/>
          </a:xfrm>
          <a:prstGeom prst="rect">
            <a:avLst/>
          </a:prstGeom>
          <a:solidFill>
            <a:srgbClr val="FF6B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63983" y="36210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</a:rPr>
              <a:t>0.008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187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AOD-Net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4224528"/>
            <a:ext cx="91440" cy="228600"/>
          </a:xfrm>
          <a:prstGeom prst="rect">
            <a:avLst/>
          </a:prstGeom>
          <a:solidFill>
            <a:srgbClr val="BF5AF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9045" y="4187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5AF2"/>
                </a:solidFill>
              </a:rPr>
              <a:t>0.002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389888"/>
            <a:ext cx="5486400" cy="3840480"/>
          </a:xfrm>
          <a:prstGeom prst="rect">
            <a:avLst/>
          </a:prstGeom>
          <a:solidFill>
            <a:srgbClr val="101828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性能 vs 参数量分析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920240"/>
            <a:ext cx="5029200" cy="777240"/>
          </a:xfrm>
          <a:prstGeom prst="rect">
            <a:avLst/>
          </a:prstGeom>
          <a:solidFill>
            <a:srgbClr val="081830"/>
          </a:solidFill>
          <a:ln w="12700">
            <a:solidFill>
              <a:srgbClr val="18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19933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6FF"/>
                </a:solidFill>
              </a:rPr>
              <a:t>参数增加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3042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~4.68 M vs GCANet 0.70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1214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200"/>
                </a:solidFill>
              </a:rPr>
              <a:t>约 6.7 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34640"/>
            <a:ext cx="5029200" cy="777240"/>
          </a:xfrm>
          <a:prstGeom prst="rect">
            <a:avLst/>
          </a:prstGeom>
          <a:solidFill>
            <a:srgbClr val="081830"/>
          </a:solidFill>
          <a:ln w="12700">
            <a:solidFill>
              <a:srgbClr val="18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907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6FF"/>
                </a:solidFill>
              </a:rPr>
              <a:t>PSNR 增益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32186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36.39 vs 30.23（GCANet）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0358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200"/>
                </a:solidFill>
              </a:rPr>
              <a:t>+6.16 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49040"/>
            <a:ext cx="5029200" cy="777240"/>
          </a:xfrm>
          <a:prstGeom prst="rect">
            <a:avLst/>
          </a:prstGeom>
          <a:solidFill>
            <a:srgbClr val="081830"/>
          </a:solidFill>
          <a:ln w="12700">
            <a:solidFill>
              <a:srgbClr val="18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38221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6FF"/>
                </a:solidFill>
              </a:rPr>
              <a:t>SSIM 增益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1330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0.9886 vs 0.9800（GCANet）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9502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200"/>
                </a:solidFill>
              </a:rPr>
              <a:t>+0.0086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94960"/>
            <a:ext cx="11247120" cy="777240"/>
          </a:xfrm>
          <a:prstGeom prst="rect">
            <a:avLst/>
          </a:prstGeom>
          <a:solidFill>
            <a:srgbClr val="051528"/>
          </a:solidFill>
          <a:ln w="127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4589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总结：以约 6.7 倍参数量换取 6.16 dB PSNR 增益，性价比显著。若资源受限可减小 blocks 数（如设为 6）获得轻量变体；推理支持全分辨率输入，单张 GPU 约 0.1~0.5 秒。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2222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200"/>
                </a:solidFill>
              </a:rPr>
              <a:t>◆ 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200"/>
                </a:solidFill>
              </a:rPr>
              <a:t>结论与展望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669280" cy="1965960"/>
          </a:xfrm>
          <a:prstGeom prst="rect">
            <a:avLst/>
          </a:prstGeom>
          <a:solidFill>
            <a:srgbClr val="181530"/>
          </a:solidFill>
          <a:ln w="12700">
            <a:solidFill>
              <a:srgbClr val="443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32855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27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00"/>
                </a:solidFill>
              </a:rPr>
              <a:t>核心贡献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47672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提出双重注意力（CA+PA）与特征融合注意力（FFA）相结合的去雾网络，在 SOTS 数据集上大幅超越所有已知方法，室内 PSNR 达 36.39 dB。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5669280" cy="1965960"/>
          </a:xfrm>
          <a:prstGeom prst="rect">
            <a:avLst/>
          </a:prstGeom>
          <a:solidFill>
            <a:srgbClr val="181530"/>
          </a:solidFill>
          <a:ln w="12700">
            <a:solidFill>
              <a:srgbClr val="443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49047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32855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527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00"/>
                </a:solidFill>
              </a:rPr>
              <a:t>方法创新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947672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首次在去雾任务中同时使用通道和空间两维注意力，并设计自适应多分支特征融合，摆脱了手工估算透射率的局限。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669280" cy="1965960"/>
          </a:xfrm>
          <a:prstGeom prst="rect">
            <a:avLst/>
          </a:prstGeom>
          <a:solidFill>
            <a:srgbClr val="181530"/>
          </a:solidFill>
          <a:ln w="12700">
            <a:solidFill>
              <a:srgbClr val="443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63931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32855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758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00"/>
                </a:solidFill>
              </a:rPr>
              <a:t>实用价值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096512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代码开源，提供完整训练/测试流程和预训练模型，支持室内/室外两场景，可直接应用于工程实践。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566160"/>
            <a:ext cx="5669280" cy="1965960"/>
          </a:xfrm>
          <a:prstGeom prst="rect">
            <a:avLst/>
          </a:prstGeom>
          <a:solidFill>
            <a:srgbClr val="181530"/>
          </a:solidFill>
          <a:ln w="12700">
            <a:solidFill>
              <a:srgbClr val="443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363931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32855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6758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00"/>
                </a:solidFill>
              </a:rPr>
              <a:t>启示影响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096512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双重注意力设计对超分辨率、图像增强、低光照复原等任务具有普遍参考价值，已被后续多篇工作引用。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52160"/>
            <a:ext cx="11247120" cy="804672"/>
          </a:xfrm>
          <a:prstGeom prst="rect">
            <a:avLst/>
          </a:prstGeom>
          <a:solidFill>
            <a:srgbClr val="250A0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916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局限与未来方向：  ① 在真实（非合成）有雾图像上的泛化性有待验证；  ② 参数量较大，移动端需要模型压缩；  ③ 未来可探索 Transformer 自注意力与本文卷积注意力的结合。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D200"/>
                </a:solidFill>
              </a:rP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AAAAA"/>
                </a:solidFill>
              </a:rPr>
              <a:t>欢迎提问与讨论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977639"/>
            <a:ext cx="11274552" cy="13716"/>
          </a:xfrm>
          <a:prstGeom prst="rect">
            <a:avLst/>
          </a:prstGeom>
          <a:solidFill>
            <a:srgbClr val="6666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16052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参考文献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17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Qin X, Wang Z, Bai Y, et al. FFA-Net: Feature fusion attention network for single image dehazing[C].
Proceedings of the AAAI Conference on Artificial Intelligence. 2020, 34(07): 11908–11915.
arXiv: 1911.07559  |  数据集: RESIDE Benchmark  |  代码: GitHub (Bryant1iu/FFA-Net)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3047238" cy="64008"/>
          </a:xfrm>
          <a:prstGeom prst="rect">
            <a:avLst/>
          </a:prstGeom>
          <a:solidFill>
            <a:srgbClr val="F797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7238" y="6793992"/>
            <a:ext cx="3047238" cy="64008"/>
          </a:xfrm>
          <a:prstGeom prst="rect">
            <a:avLst/>
          </a:prstGeom>
          <a:solidFill>
            <a:srgbClr val="FFD2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6793992"/>
            <a:ext cx="3047238" cy="64008"/>
          </a:xfrm>
          <a:prstGeom prst="rect">
            <a:avLst/>
          </a:prstGeom>
          <a:solidFill>
            <a:srgbClr val="00C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1714" y="6793992"/>
            <a:ext cx="3047238" cy="64008"/>
          </a:xfrm>
          <a:prstGeom prst="rect">
            <a:avLst/>
          </a:prstGeom>
          <a:solidFill>
            <a:srgbClr val="43E97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